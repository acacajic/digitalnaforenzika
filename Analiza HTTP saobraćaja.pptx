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5" d="100"/>
          <a:sy n="25" d="100"/>
        </p:scale>
        <p:origin x="931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6212" y="1676400"/>
            <a:ext cx="8968428" cy="1854672"/>
          </a:xfrm>
        </p:spPr>
        <p:txBody>
          <a:bodyPr/>
          <a:lstStyle/>
          <a:p>
            <a:pPr algn="ctr"/>
            <a:r>
              <a:rPr lang="sr-Cyrl-RS" sz="3200" b="1" dirty="0">
                <a:solidFill>
                  <a:schemeClr val="tx1"/>
                </a:solidFill>
              </a:rPr>
              <a:t>Анализа </a:t>
            </a:r>
            <a:r>
              <a:rPr lang="en-US" sz="3200" b="1" dirty="0">
                <a:solidFill>
                  <a:schemeClr val="tx1"/>
                </a:solidFill>
              </a:rPr>
              <a:t>HTTP</a:t>
            </a:r>
            <a:r>
              <a:rPr lang="sr-Cyrl-RS" sz="3200" b="1" dirty="0">
                <a:solidFill>
                  <a:schemeClr val="tx1"/>
                </a:solidFill>
              </a:rPr>
              <a:t> саобраћаја из </a:t>
            </a:r>
            <a:r>
              <a:rPr lang="en-US" sz="3200" b="1" dirty="0">
                <a:solidFill>
                  <a:schemeClr val="tx1"/>
                </a:solidFill>
              </a:rPr>
              <a:t>PCAP</a:t>
            </a:r>
            <a:r>
              <a:rPr lang="sr-Cyrl-RS" sz="3200" b="1" dirty="0">
                <a:solidFill>
                  <a:schemeClr val="tx1"/>
                </a:solidFill>
              </a:rPr>
              <a:t> и </a:t>
            </a:r>
            <a:r>
              <a:rPr lang="en-US" sz="3200" b="1" dirty="0">
                <a:solidFill>
                  <a:schemeClr val="tx1"/>
                </a:solidFill>
              </a:rPr>
              <a:t>PCAPNG</a:t>
            </a:r>
            <a:r>
              <a:rPr lang="sr-Cyrl-RS" sz="3200" b="1" dirty="0">
                <a:solidFill>
                  <a:schemeClr val="tx1"/>
                </a:solidFill>
              </a:rPr>
              <a:t> фајлова у сврху откривања поверљивих података применом </a:t>
            </a:r>
            <a:r>
              <a:rPr lang="en-US" sz="3200" b="1" dirty="0">
                <a:solidFill>
                  <a:schemeClr val="tx1"/>
                </a:solidFill>
              </a:rPr>
              <a:t>Python</a:t>
            </a:r>
            <a:r>
              <a:rPr lang="sr-Cyrl-RS" sz="3200" b="1" dirty="0">
                <a:solidFill>
                  <a:schemeClr val="tx1"/>
                </a:solidFill>
              </a:rPr>
              <a:t> алата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2700" y="5761101"/>
            <a:ext cx="3806778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dirty="0" smtClean="0">
                <a:solidFill>
                  <a:schemeClr val="tx1"/>
                </a:solidFill>
              </a:rPr>
              <a:t>Student: Aleksandar Cajić 2082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8326168" y="5761101"/>
            <a:ext cx="3494305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dirty="0" smtClean="0">
                <a:solidFill>
                  <a:schemeClr val="tx1"/>
                </a:solidFill>
              </a:rPr>
              <a:t>Profesor: Dr. Bratislav Predić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45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Uvod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Savremene informacione sisteme susrećemo u svakodnevnom poslovanju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Porast bezbedonosnih incidenata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Potreba za alatima koji omogućavaju identifikaciju, analizu i razumevanje digitalnih incidenata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Od suštinskog značenja razumevanje digitalnih tragova nastalih tokom komunikacije i rada inforamcionih sistema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509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Motivacija za izradu rada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Curenje osetljivih podataka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Potrebno iskustvo za upotrebu postojećih alata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Prisutnost HTTP saobraćaja u starijim sistemima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Automatizovana obrada mrežnog saobraćaja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Razvoj alata doprinosi efikasnosti forenzičkoj analizi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363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Ciljevi rada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Razvoj i primena alata za forenzičku analizu mrežnog saobraćaja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Specifični ciljevi: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200" dirty="0" smtClean="0"/>
              <a:t>Analiza pcap i pcapng fajlova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200" dirty="0" smtClean="0"/>
              <a:t>Identifikacija i ekstrakcija HTTP zahteva i odgovora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200" dirty="0" smtClean="0"/>
              <a:t>Automatska detekcija osetljivih podataka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200" dirty="0" smtClean="0"/>
              <a:t>Identifikacija potencijalnih bezbedonosnih propusta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154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HTTP protokol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Razmena podataka između klijenta i servera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Stateless protokol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Za održavanje stanja između klijenta i servera koriste se kolačići i sesije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3777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sr-Latn-RS" dirty="0" smtClean="0"/>
              <a:t>Osnove HTTP komunikacije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83669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HTTP request i response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GET i POST metode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HTTP zaglavlje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Content-Type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Cookies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Authorization header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200" dirty="0" smtClean="0"/>
              <a:t>Autentifikacija u HTTP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000" dirty="0" smtClean="0"/>
              <a:t>Basic Auth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000" dirty="0" smtClean="0"/>
              <a:t>Bearer token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000" dirty="0" smtClean="0"/>
              <a:t>JSON Web Token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000" dirty="0" smtClean="0"/>
              <a:t>Session cookies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715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sr-Latn-RS" dirty="0" smtClean="0"/>
              <a:t>HTTP request i response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HTTP komunikacija se zasniva po modelu zahteva i odgovora, klijent šalje zahtev ka serveru dok server obrađuje taj zahtev i vraća odgovor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HTTP request sastoji se od: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Početn</a:t>
            </a:r>
            <a:r>
              <a:rPr lang="sr-Latn-RS" sz="1800" dirty="0"/>
              <a:t>u</a:t>
            </a:r>
            <a:r>
              <a:rPr lang="sr-Latn-RS" sz="1800" dirty="0" smtClean="0"/>
              <a:t> linija koja sadrži metodu, putanju resursa i verziju protokola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HTTP zaglavlje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Opcionog dela poruke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HTTP response sadrži: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Statusnu liniju sa statusnim odgovorom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Zaglavlje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Telo poruke koje sadrži traženi sadržaj ili poruke o frešci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5920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sr-Latn-RS" dirty="0" smtClean="0"/>
              <a:t>GET i POST metoda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0785"/>
            <a:ext cx="8596668" cy="36022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GET i POST metode su najčešće korišćene HTTP metode za komunikaciju između klijenta i servera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GET metode se koriste za zahtev resursa sa servera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Podaci poslati GET metodom vidljivi u adresnoj liniji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POST metode se koriste za slanje podataka ka serveru najčešće kroz telo HTTP zahteva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POST metoda se često koristi za slanje podataka sa formi uključujući korisnička imena i lozinke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7408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sr-Latn-RS" dirty="0" smtClean="0"/>
              <a:t>HTTP zaglavlje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602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Predstavlja ključ – vrednost parove koji sadrže dodatne informacije o zahtevu i odgovoru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Omogućava prenost metapodataka kao što su informacije o klijentima, formatu podataka, autentifikacije i stanju sesije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Imaju poseban značaj u forenzičkoj analizi jer sadrži osetljive podatke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7032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sr-Latn-RS" dirty="0" smtClean="0"/>
              <a:t>Content-Type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3174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Definiše tip podataka koji se šalje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Omogućava da server i klijent pravilno interpretiraju poruke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Često korišćene vrednosti text/html, application/json i application/x-www-form-urlencoded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Ovo zaglavlje je važno jer omogućava identifikaciju podataka, što olakšava ekstrakciju korisničkih unosa, kredencijala i drugih relevantnih informacija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8089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sr-Latn-RS" dirty="0" smtClean="0"/>
              <a:t>Authorization 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Koristi se za autentifikaciju klijenta prema serveru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Može sadržati različite tipove podataka kao što su osnovna autentifikacija, tokeni ili API ključeve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U slučaju nešifrovane HTTP komunikacije sadržaj zaglavlja lako dostupan napadaču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Analiza Authorization zaglavlja u pcap i pcapng fajlovima omogućava identifikaciju nebezbednih mehanizama autentifikacije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2972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sr-Latn-RS" dirty="0" smtClean="0"/>
              <a:t>Autentifikacija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Predstavlja proceduru kojom se potvrđuje dati klijent prilikom pristupa zaštićenim resursima na serveru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Različiti mehanizmi autentifikacije imaju različite bezbedonosne karakteristike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Različiti tipovi autentifikacije: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Basic Authentication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Bearer token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JSON Web Token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Session cookies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3976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sr-Latn-RS" dirty="0" smtClean="0"/>
              <a:t>Prikupljanje mrežnog saobraćaja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Snimanje je urađeno u lokalnom testnom okruženju korišćenjem Wireshark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U cilju obezbeđivanja uzoraka na kojima možemo da primenimo implementirani alat napravljeni su namenski HTTP zahtevi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Tokom snimanja saobraćaja obuhvaćene su sledeće vrste komunikacije: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HTTP GET zahtevi sa parametrima u URL aresi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HTTP POST zahtevi sa podacima u telu poruke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Slanje autentifikacionih zaglavlja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Razmena kolačića između klijeta i servera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2325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 fontScale="90000"/>
          </a:bodyPr>
          <a:lstStyle/>
          <a:p>
            <a:r>
              <a:rPr lang="sr-Latn-RS" dirty="0" smtClean="0"/>
              <a:t>Definisanje kriterijuma za osetljive podatke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Jedan od ključnih koraka u izradi alata je definisanje kriterijuma na osnovu kojih se podaci definišu kao osetljivi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Kriterijumi se zasnivaju na bezbedonosnim principima i uobičajenim obrascima prenosa podataka u veb apliakcijama</a:t>
            </a:r>
            <a:endParaRPr lang="sr-Cyrl-R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sr-Latn-RS" sz="2000" dirty="0" smtClean="0"/>
              <a:t>U ovom alatu se pod osetljivim podacima podrazumevaju sledeći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Autentifikacioni podaci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Parametri za prijavu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Kolačići i sesioni indentifikatori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1800" dirty="0" smtClean="0"/>
              <a:t>Tokeni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8870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 fontScale="90000"/>
          </a:bodyPr>
          <a:lstStyle/>
          <a:p>
            <a:r>
              <a:rPr lang="sr-Latn-RS" dirty="0" smtClean="0"/>
              <a:t>Funkcija za učitavanje pacap/pcapng fajlova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1800" dirty="0" smtClean="0"/>
              <a:t>Funkcija za učitavanje prolazi kroz zadati direktorijum i bira samo fajlove sa ekstenzijom pcap i pcapng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Koristi se biblioteka PyShark pomoću koje se dobija dekodirani protokol i polja bez ručnog parsiranja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1800" dirty="0" smtClean="0"/>
              <a:t>Drugi parametar funckije je display_filter i </a:t>
            </a:r>
            <a:r>
              <a:rPr lang="sr-Latn-RS" sz="1800" smtClean="0"/>
              <a:t>služi da se </a:t>
            </a:r>
            <a:r>
              <a:rPr lang="sr-Latn-RS" sz="1800" dirty="0" smtClean="0"/>
              <a:t>iz izvučene </a:t>
            </a:r>
            <a:r>
              <a:rPr lang="sr-Latn-RS" sz="1800" smtClean="0"/>
              <a:t>podatke izbace paketi koji </a:t>
            </a:r>
            <a:r>
              <a:rPr lang="sr-Latn-RS" sz="1800" dirty="0" smtClean="0"/>
              <a:t>ne zadovoljavaju uslov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Funkcija vrala listu parova (filename,capture) što omogućava main-u da zna iz kog fajla dolaze paketi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7329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 fontScale="90000"/>
          </a:bodyPr>
          <a:lstStyle/>
          <a:p>
            <a:r>
              <a:rPr lang="sr-Latn-RS" dirty="0" smtClean="0"/>
              <a:t>Funkcija za ekstrakciju HTTP POST zahteva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193" y="3686274"/>
            <a:ext cx="4705350" cy="266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193" y="5083492"/>
            <a:ext cx="4438650" cy="25717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77334" y="1411705"/>
            <a:ext cx="8596668" cy="4836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Prvo</a:t>
            </a:r>
            <a:r>
              <a:rPr lang="en-US" dirty="0" smtClean="0"/>
              <a:t> se </a:t>
            </a:r>
            <a:r>
              <a:rPr lang="en-US" dirty="0" err="1" smtClean="0"/>
              <a:t>proverava</a:t>
            </a:r>
            <a:r>
              <a:rPr lang="en-US" dirty="0" smtClean="0"/>
              <a:t> da li </a:t>
            </a:r>
            <a:r>
              <a:rPr lang="en-US" dirty="0" err="1" smtClean="0"/>
              <a:t>paket</a:t>
            </a:r>
            <a:r>
              <a:rPr lang="en-US" dirty="0" smtClean="0"/>
              <a:t> </a:t>
            </a:r>
            <a:r>
              <a:rPr lang="en-US" dirty="0" err="1" smtClean="0"/>
              <a:t>ima</a:t>
            </a:r>
            <a:r>
              <a:rPr lang="en-US" dirty="0" smtClean="0"/>
              <a:t>  http </a:t>
            </a:r>
            <a:r>
              <a:rPr lang="en-US" dirty="0" err="1" smtClean="0"/>
              <a:t>sloj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da li je POST </a:t>
            </a:r>
            <a:r>
              <a:rPr lang="en-US" dirty="0" err="1" smtClean="0"/>
              <a:t>metoda</a:t>
            </a:r>
            <a:r>
              <a:rPr lang="en-US" dirty="0" smtClean="0"/>
              <a:t>, a </a:t>
            </a:r>
            <a:r>
              <a:rPr lang="en-US" dirty="0" err="1" smtClean="0"/>
              <a:t>zatim</a:t>
            </a:r>
            <a:r>
              <a:rPr lang="en-US" dirty="0" smtClean="0"/>
              <a:t> se </a:t>
            </a:r>
            <a:r>
              <a:rPr lang="en-US" dirty="0" err="1" smtClean="0"/>
              <a:t>proverava</a:t>
            </a:r>
            <a:r>
              <a:rPr lang="en-US" dirty="0" smtClean="0"/>
              <a:t> da li </a:t>
            </a:r>
            <a:r>
              <a:rPr lang="en-US" dirty="0" err="1" smtClean="0"/>
              <a:t>postoji</a:t>
            </a:r>
            <a:r>
              <a:rPr lang="en-US" dirty="0" smtClean="0"/>
              <a:t> </a:t>
            </a:r>
            <a:r>
              <a:rPr lang="en-US" dirty="0" err="1" smtClean="0"/>
              <a:t>file_data</a:t>
            </a:r>
            <a:r>
              <a:rPr lang="en-US" dirty="0" smtClean="0"/>
              <a:t> </a:t>
            </a:r>
            <a:r>
              <a:rPr lang="en-US" dirty="0" err="1" smtClean="0"/>
              <a:t>koji</a:t>
            </a:r>
            <a:r>
              <a:rPr lang="en-US" dirty="0" smtClean="0"/>
              <a:t> </a:t>
            </a:r>
            <a:r>
              <a:rPr lang="en-US" dirty="0" err="1" smtClean="0"/>
              <a:t>predstavlja</a:t>
            </a:r>
            <a:r>
              <a:rPr lang="en-US" dirty="0" smtClean="0"/>
              <a:t> payload </a:t>
            </a:r>
            <a:r>
              <a:rPr lang="en-US" dirty="0" err="1" smtClean="0"/>
              <a:t>koji</a:t>
            </a:r>
            <a:r>
              <a:rPr lang="en-US" dirty="0" smtClean="0"/>
              <a:t> </a:t>
            </a:r>
            <a:r>
              <a:rPr lang="en-US" dirty="0" err="1" smtClean="0"/>
              <a:t>Tshark</a:t>
            </a:r>
            <a:r>
              <a:rPr lang="en-US" dirty="0" smtClean="0"/>
              <a:t> </a:t>
            </a:r>
            <a:r>
              <a:rPr lang="en-US" dirty="0" err="1" smtClean="0"/>
              <a:t>izdvaja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Vra</a:t>
            </a:r>
            <a:r>
              <a:rPr lang="sr-Latn-RS" dirty="0" smtClean="0"/>
              <a:t>ća se telo POST zahteva kao heksadecimalni niz, formatiran sa dvotačkama (npr. 61:62:63...)</a:t>
            </a:r>
            <a:r>
              <a:rPr lang="en-US" dirty="0" smtClean="0"/>
              <a:t> </a:t>
            </a:r>
            <a:endParaRPr lang="sr-Latn-R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Prvo što se radi uklanjaju se dve tačke i dobija se heksadecimalni niz, a zatim se primenjuje funkcija </a:t>
            </a:r>
            <a:r>
              <a:rPr lang="en-US" b="1" dirty="0" err="1" smtClean="0"/>
              <a:t>unhexlify</a:t>
            </a:r>
            <a:r>
              <a:rPr lang="sr-Latn-RS" dirty="0" smtClean="0"/>
              <a:t> i dobija se niz bajtova kao bytes objekat</a:t>
            </a:r>
          </a:p>
          <a:p>
            <a:pPr>
              <a:buFont typeface="Wingdings" panose="05000000000000000000" pitchFamily="2" charset="2"/>
              <a:buChar char="Ø"/>
            </a:pPr>
            <a:endParaRPr lang="sr-Latn-RS" dirty="0"/>
          </a:p>
          <a:p>
            <a:pPr>
              <a:buFont typeface="Wingdings" panose="05000000000000000000" pitchFamily="2" charset="2"/>
              <a:buChar char="Ø"/>
            </a:pPr>
            <a:endParaRPr lang="sr-Latn-R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A zatim se pomoću funkcije </a:t>
            </a:r>
            <a:r>
              <a:rPr lang="en-US" b="1" dirty="0"/>
              <a:t>decode</a:t>
            </a:r>
            <a:r>
              <a:rPr lang="en-US" dirty="0"/>
              <a:t>("utf-8</a:t>
            </a:r>
            <a:r>
              <a:rPr lang="en-US" dirty="0" smtClean="0"/>
              <a:t>")</a:t>
            </a:r>
            <a:r>
              <a:rPr lang="sr-Latn-RS" dirty="0" smtClean="0"/>
              <a:t> bajtovi dekodiraju u UTF-8 tekst i dobija se sledeći podatak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99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 fontScale="90000"/>
          </a:bodyPr>
          <a:lstStyle/>
          <a:p>
            <a:r>
              <a:rPr lang="sr-Latn-RS" dirty="0" smtClean="0"/>
              <a:t>Funkcija za ekstrakciju HTTP </a:t>
            </a:r>
            <a:r>
              <a:rPr lang="en-US" dirty="0" smtClean="0"/>
              <a:t>GET </a:t>
            </a:r>
            <a:r>
              <a:rPr lang="sr-Latn-RS" dirty="0" smtClean="0"/>
              <a:t>zahteva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8366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r-Latn-RS" sz="1800" dirty="0" smtClean="0"/>
              <a:t>Funkcija prvo proverava da li postoji http sloj i da li je GET metod, i ako su ti uslovi ispunjeni i http sloja uzima se request_uri koji izgleda u sledećem obliku:</a:t>
            </a:r>
          </a:p>
          <a:p>
            <a:pPr>
              <a:buFont typeface="Wingdings" panose="05000000000000000000" pitchFamily="2" charset="2"/>
              <a:buChar char="Ø"/>
            </a:pPr>
            <a:endParaRPr lang="sr-Latn-RS" dirty="0"/>
          </a:p>
          <a:p>
            <a:pPr>
              <a:buFont typeface="Wingdings" panose="05000000000000000000" pitchFamily="2" charset="2"/>
              <a:buChar char="Ø"/>
            </a:pPr>
            <a:r>
              <a:rPr lang="sr-Latn-RS" sz="1800" dirty="0" smtClean="0"/>
              <a:t>A zatim se on parsira pomoću funkcije urlparse koja ga razlaže na njegove delove i to u sledećem obliku: </a:t>
            </a:r>
          </a:p>
          <a:p>
            <a:pPr>
              <a:buFont typeface="Wingdings" panose="05000000000000000000" pitchFamily="2" charset="2"/>
              <a:buChar char="Ø"/>
            </a:pPr>
            <a:endParaRPr lang="sr-Latn-RS" dirty="0"/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A zatim se koristi funkcija </a:t>
            </a:r>
            <a:r>
              <a:rPr lang="sr-Latn-RS" b="1" dirty="0" smtClean="0"/>
              <a:t>parse_qs koja</a:t>
            </a:r>
            <a:r>
              <a:rPr lang="sr-Latn-RS" dirty="0" smtClean="0"/>
              <a:t> prima query string i pretvaraga u Python dict</a:t>
            </a:r>
            <a:endParaRPr lang="en-US" sz="1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72" y="2394381"/>
            <a:ext cx="2638425" cy="238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72" y="3498480"/>
            <a:ext cx="9096375" cy="276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772" y="4576810"/>
            <a:ext cx="393382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/>
          </a:bodyPr>
          <a:lstStyle/>
          <a:p>
            <a:r>
              <a:rPr lang="sr-Latn-RS" dirty="0" smtClean="0"/>
              <a:t>Funkcija za ekstrakciju Basic Auth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8089" y="2152850"/>
            <a:ext cx="2324100" cy="219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209" y="3560494"/>
            <a:ext cx="1390650" cy="200025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677334" y="1411705"/>
            <a:ext cx="8596668" cy="4836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Mo</a:t>
            </a:r>
            <a:r>
              <a:rPr lang="sr-Latn-RS" dirty="0" smtClean="0"/>
              <a:t>že se izdvojiti na dva načina i to ispitivanjem http.credentials i http.authorization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Authorization header izgleda u sledećem obliku: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Dalje za dekodiranje se koriste sledeće funkcije: </a:t>
            </a:r>
            <a:r>
              <a:rPr lang="sr-Latn-RS" b="1" dirty="0" smtClean="0"/>
              <a:t>base64</a:t>
            </a:r>
            <a:r>
              <a:rPr lang="sr-Latn-RS" dirty="0" smtClean="0"/>
              <a:t>.</a:t>
            </a:r>
            <a:r>
              <a:rPr lang="en-US" b="1" dirty="0" smtClean="0"/>
              <a:t>b64decode(</a:t>
            </a:r>
            <a:r>
              <a:rPr lang="en-US" b="1" dirty="0" err="1" smtClean="0"/>
              <a:t>encoded_creds</a:t>
            </a:r>
            <a:r>
              <a:rPr lang="en-US" b="1" dirty="0"/>
              <a:t>).decode("utf-8</a:t>
            </a:r>
            <a:r>
              <a:rPr lang="en-US" b="1" dirty="0" smtClean="0"/>
              <a:t>"</a:t>
            </a:r>
            <a:r>
              <a:rPr lang="en-US" dirty="0" smtClean="0"/>
              <a:t>)</a:t>
            </a:r>
            <a:endParaRPr lang="sr-Latn-R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Base64 dekodira enkodirani string i dobija se bytes objekat a zatim se on pomoću funckije </a:t>
            </a:r>
            <a:r>
              <a:rPr lang="sr-Latn-RS" b="1" dirty="0" smtClean="0"/>
              <a:t>decode</a:t>
            </a:r>
            <a:r>
              <a:rPr lang="sr-Latn-RS" dirty="0" smtClean="0"/>
              <a:t> pretvara u običan tekst i dobija se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A zatim se dobijeni string pomoću funkcije </a:t>
            </a:r>
            <a:r>
              <a:rPr lang="sr-Latn-RS" b="1" dirty="0" smtClean="0"/>
              <a:t>split</a:t>
            </a:r>
            <a:r>
              <a:rPr lang="sr-Latn-RS" dirty="0" smtClean="0"/>
              <a:t> deli, i to kao delimetar podele se uzima znak :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3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/>
          </a:bodyPr>
          <a:lstStyle/>
          <a:p>
            <a:r>
              <a:rPr lang="sr-Latn-RS" dirty="0" smtClean="0"/>
              <a:t>Funkcija za ekstrakciju tokena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77334" y="1411705"/>
            <a:ext cx="8596668" cy="4836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Ova funkcija služi za ekstrakciju Bearer tokena u Authorization hederu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dirty="0" smtClean="0"/>
              <a:t>Proverava se da li postoji http.authorization i ako postoji proverava se jel počinje sa Bearer i ako počinje ostatak se samo uzme kao token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proveru</a:t>
            </a:r>
            <a:r>
              <a:rPr lang="en-US" dirty="0" smtClean="0"/>
              <a:t> da li </a:t>
            </a:r>
            <a:r>
              <a:rPr lang="en-US" dirty="0" err="1" smtClean="0"/>
              <a:t>heder</a:t>
            </a:r>
            <a:r>
              <a:rPr lang="en-US" dirty="0" smtClean="0"/>
              <a:t> p</a:t>
            </a:r>
            <a:r>
              <a:rPr lang="sr-Latn-RS" dirty="0" smtClean="0"/>
              <a:t>očinje sa Bearer koristi se funkcija </a:t>
            </a:r>
            <a:r>
              <a:rPr lang="sr-Latn-RS" b="1" dirty="0" smtClean="0"/>
              <a:t>startswith</a:t>
            </a:r>
            <a:r>
              <a:rPr lang="sr-Latn-RS" dirty="0" smtClean="0"/>
              <a:t> i ako počinje pomoću funkcije </a:t>
            </a:r>
            <a:r>
              <a:rPr lang="sr-Latn-RS" b="1" dirty="0" smtClean="0"/>
              <a:t>split</a:t>
            </a:r>
            <a:r>
              <a:rPr lang="sr-Latn-RS" dirty="0" smtClean="0"/>
              <a:t> se izdvoji teo posle reči Bearer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287" y="2819400"/>
            <a:ext cx="10195753" cy="49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5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/>
          </a:bodyPr>
          <a:lstStyle/>
          <a:p>
            <a:r>
              <a:rPr lang="sr-Latn-RS" dirty="0" smtClean="0"/>
              <a:t>Funkcija za ekstrakciju kolačića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77334" y="1411705"/>
            <a:ext cx="8596668" cy="4836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U ovoj funkciji se proverava da li ima heder cookie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On sadrži sve kolačiće kao string koji su međusobno odvojeni sa ; zato se radi split po tom znaku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Kao rezultat se dobija niz elemenata gde svaki od njih predstavlja jedan kolačić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Zatim se prolazi kroz svaki od njih i primenjuje se funkcija split sa delimetrom = kako bi se dobile vrednosti name i value jer kolačić igleda na sledeći način: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" y="5026342"/>
            <a:ext cx="4358640" cy="31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9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/>
          </a:bodyPr>
          <a:lstStyle/>
          <a:p>
            <a:r>
              <a:rPr lang="sr-Latn-RS" dirty="0" smtClean="0"/>
              <a:t>Ograničenje i unapređenje aplikacije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77334" y="1411705"/>
            <a:ext cx="10051626" cy="5446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Najznačajnije ograničenje je mogućnost analize samo nešifrovanog HTTP saobraćaja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Zavisnost od biblioteke PyShark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Analiza velikih snimaka mrežnog saobraćaja može dovesti do potrošnje resursa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Najznačajnije unapređenje bi bilo implementacija mehanizma za analizu HTTPS saobraćaja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Moguće je unaprediti dodavanjem metoda detekcije poput: regularnih izraza za kreditne kartice i telefone, detekciju ličnih indentifikacionih brojeva, primenu mašisnkog učenja za klasifikaciju podataka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Može da se doda funkionalnost za analiziranje saobraćaja u realnom vremenu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044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>
            <a:normAutofit/>
          </a:bodyPr>
          <a:lstStyle/>
          <a:p>
            <a:r>
              <a:rPr lang="sr-Latn-RS" dirty="0" smtClean="0"/>
              <a:t>Zaključak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77334" y="1411705"/>
            <a:ext cx="9167706" cy="5446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Analiza unapred snimljenog mrežnog saobraćaja predstavlja efikasan pristup u identifikaciji osetljivih podataka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Veliki broj važnih podataka može se identifikovati već na nivou aplikacionog sloja komunikacije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Domet softverskog alata ostaje nešifrovani saobraćaj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r-Latn-RS" sz="2400" dirty="0" smtClean="0"/>
              <a:t>Rezultati istraživanja pokazuju da automatizovana analiza mrežnih zapisa olakšava obradu mrežnog saobraćaja, ali istovremeno pokazuje i neophodnost primene enkripcije u savremenim komunikacionim sistemima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052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974" y="2606040"/>
            <a:ext cx="9243906" cy="1524000"/>
          </a:xfrm>
        </p:spPr>
        <p:txBody>
          <a:bodyPr>
            <a:normAutofit/>
          </a:bodyPr>
          <a:lstStyle/>
          <a:p>
            <a:pPr algn="ctr"/>
            <a:r>
              <a:rPr lang="sr-Latn-RS" sz="6000" dirty="0" smtClean="0"/>
              <a:t>HVALA NA PAŽNJI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25200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4385</TotalTime>
  <Words>1198</Words>
  <Application>Microsoft Office PowerPoint</Application>
  <PresentationFormat>Widescreen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Trebuchet MS</vt:lpstr>
      <vt:lpstr>Wingdings</vt:lpstr>
      <vt:lpstr>Wingdings 3</vt:lpstr>
      <vt:lpstr>Facet</vt:lpstr>
      <vt:lpstr>Анализа HTTP саобраћаја из PCAP и PCAPNG фајлова у сврху откривања поверљивих података применом Python алата</vt:lpstr>
      <vt:lpstr>Uvod</vt:lpstr>
      <vt:lpstr>Motivacija za izradu rada</vt:lpstr>
      <vt:lpstr>Ciljevi rada</vt:lpstr>
      <vt:lpstr>HTTP protokol</vt:lpstr>
      <vt:lpstr>Osnove HTTP komunikacije</vt:lpstr>
      <vt:lpstr>HTTP request i response</vt:lpstr>
      <vt:lpstr>GET i POST metoda</vt:lpstr>
      <vt:lpstr>HTTP zaglavlje</vt:lpstr>
      <vt:lpstr>Content-Type</vt:lpstr>
      <vt:lpstr>Authorization header</vt:lpstr>
      <vt:lpstr>Autentifikacija</vt:lpstr>
      <vt:lpstr>Prikupljanje mrežnog saobraćaja</vt:lpstr>
      <vt:lpstr>Definisanje kriterijuma za osetljive podatke</vt:lpstr>
      <vt:lpstr>Funkcija za učitavanje pacap/pcapng fajlova</vt:lpstr>
      <vt:lpstr>Funkcija za ekstrakciju HTTP POST zahteva</vt:lpstr>
      <vt:lpstr>Funkcija za ekstrakciju HTTP GET zahteva</vt:lpstr>
      <vt:lpstr>Funkcija za ekstrakciju Basic Auth</vt:lpstr>
      <vt:lpstr>Funkcija za ekstrakciju tokena</vt:lpstr>
      <vt:lpstr>Funkcija za ekstrakciju kolačića</vt:lpstr>
      <vt:lpstr>Ograničenje i unapređenje aplikacije</vt:lpstr>
      <vt:lpstr>Zaključak</vt:lpstr>
      <vt:lpstr>HVALA NA PAŽNJI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Analita HTTP saobra’aja</dc:title>
  <dc:creator>ACA_PC</dc:creator>
  <cp:lastModifiedBy>ACA_PC</cp:lastModifiedBy>
  <cp:revision>52</cp:revision>
  <dcterms:created xsi:type="dcterms:W3CDTF">2026-02-23T11:47:55Z</dcterms:created>
  <dcterms:modified xsi:type="dcterms:W3CDTF">2026-02-26T18:44:52Z</dcterms:modified>
</cp:coreProperties>
</file>